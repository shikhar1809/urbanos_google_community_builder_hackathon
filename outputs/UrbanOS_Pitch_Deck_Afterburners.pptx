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59" r:id="rId5"/>
    <p:sldId id="260" r:id="rId6"/>
    <p:sldId id="261" r:id="rId7"/>
    <p:sldId id="266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87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rbanos.web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hyperlink" Target="https://youtu.be/3PQMmyQZnLo" TargetMode="Externa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24FA778-DB21-4198-975C-3F7E9C3D9B60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4381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4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urbanOS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6FA9B0-DAA4-4A13-94DD-78DC524C922B}"/>
              </a:ext>
            </a:extLst>
          </p:cNvPr>
          <p:cNvSpPr>
            <a:spLocks noGrp="1"/>
          </p:cNvSpPr>
          <p:nvPr/>
        </p:nvSpPr>
        <p:spPr>
          <a:xfrm>
            <a:off x="647700" y="139065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People's Priority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E812BF-54CD-4E74-9AD3-DB2BA2173260}"/>
              </a:ext>
            </a:extLst>
          </p:cNvPr>
          <p:cNvSpPr>
            <a:spLocks noGrp="1"/>
          </p:cNvSpPr>
          <p:nvPr/>
        </p:nvSpPr>
        <p:spPr>
          <a:xfrm>
            <a:off x="647700" y="1952625"/>
            <a:ext cx="571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An AI layer between citizen voice and MP development decisions.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EDC6B4-1BE6-470A-99FA-67805F934F00}"/>
              </a:ext>
            </a:extLst>
          </p:cNvPr>
          <p:cNvSpPr>
            <a:spLocks noGrp="1"/>
          </p:cNvSpPr>
          <p:nvPr/>
        </p:nvSpPr>
        <p:spPr>
          <a:xfrm>
            <a:off x="685800" y="3714749"/>
            <a:ext cx="4572000" cy="168592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6F0FEC-0525-4104-BB53-A9068AD29E29}"/>
              </a:ext>
            </a:extLst>
          </p:cNvPr>
          <p:cNvSpPr>
            <a:spLocks noGrp="1"/>
          </p:cNvSpPr>
          <p:nvPr/>
        </p:nvSpPr>
        <p:spPr>
          <a:xfrm>
            <a:off x="971550" y="39814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Team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86608B-8044-41EA-842A-C77B04A8D387}"/>
              </a:ext>
            </a:extLst>
          </p:cNvPr>
          <p:cNvSpPr>
            <a:spLocks noGrp="1"/>
          </p:cNvSpPr>
          <p:nvPr/>
        </p:nvSpPr>
        <p:spPr>
          <a:xfrm>
            <a:off x="971550" y="4267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lang="en-IN" sz="2100" b="1" dirty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</a:t>
            </a:r>
            <a:r>
              <a:rPr sz="2100" b="1" dirty="0" err="1">
                <a:solidFill>
                  <a:srgbClr val="0F172A"/>
                </a:solidFill>
                <a:latin typeface="Inter"/>
                <a:ea typeface="Inter"/>
                <a:cs typeface="Inter"/>
              </a:rPr>
              <a:t>fterburners</a:t>
            </a:r>
            <a:endParaRPr sz="2100" b="1" dirty="0">
              <a:solidFill>
                <a:srgbClr val="0F172A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FB7DD0-003C-4FD6-A030-8266DEC7976E}"/>
              </a:ext>
            </a:extLst>
          </p:cNvPr>
          <p:cNvSpPr>
            <a:spLocks noGrp="1"/>
          </p:cNvSpPr>
          <p:nvPr/>
        </p:nvSpPr>
        <p:spPr>
          <a:xfrm>
            <a:off x="971550" y="464820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Team leader: Shikhar Shahi</a:t>
            </a:r>
            <a:r>
              <a:rPr lang="en-IN" sz="1350" b="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 , </a:t>
            </a:r>
            <a:r>
              <a:rPr lang="en-IN" sz="1350" b="0" dirty="0" err="1">
                <a:solidFill>
                  <a:srgbClr val="64748B"/>
                </a:solidFill>
                <a:latin typeface="Inter"/>
                <a:ea typeface="Inter"/>
                <a:cs typeface="Inter"/>
              </a:rPr>
              <a:t>Btech</a:t>
            </a:r>
            <a:r>
              <a:rPr lang="en-IN" sz="1350" b="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 DS</a:t>
            </a:r>
          </a:p>
          <a:p>
            <a:pPr algn="l"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lang="en-IN" sz="135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Team member : Jigyasa Tiwari , </a:t>
            </a:r>
            <a:r>
              <a:rPr lang="en-IN" sz="1350" dirty="0" err="1">
                <a:solidFill>
                  <a:srgbClr val="64748B"/>
                </a:solidFill>
                <a:latin typeface="Inter"/>
                <a:ea typeface="Inter"/>
                <a:cs typeface="Inter"/>
              </a:rPr>
              <a:t>Btech</a:t>
            </a:r>
            <a:r>
              <a:rPr lang="en-IN" sz="135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 DS</a:t>
            </a:r>
            <a:endParaRPr sz="1350" b="0" dirty="0">
              <a:solidFill>
                <a:srgbClr val="64748B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BEA74F-8BC8-4F22-9246-7BC572A07B30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UrbanOS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126574-2329-4C5B-BBD9-42DDE9C333CA}"/>
              </a:ext>
            </a:extLst>
          </p:cNvPr>
          <p:cNvSpPr>
            <a:spLocks noGrp="1"/>
          </p:cNvSpPr>
          <p:nvPr/>
        </p:nvSpPr>
        <p:spPr>
          <a:xfrm>
            <a:off x="10858500" y="62865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A1CBE4-C557-7309-4EAF-FEF0C238F7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862867"/>
            <a:ext cx="2537337" cy="34519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179677-2FC6-0BF3-5843-83E48585C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058" y="4429125"/>
            <a:ext cx="2541457" cy="13461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2FC95C6-ED12-EE0E-F3FF-6284FD93AE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322" y="862867"/>
            <a:ext cx="2588968" cy="345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18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9F595F-02C8-4AC0-AD50-198FD03CF32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PROBLEM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5CD0B-09E6-4747-9ACC-09E0C6BE13A9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95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Citizen priorities reach the office as noise, not a ranked planning queue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AA2A2F-5122-4515-9C31-9D3C61E2FCBC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MP offices hear real demand every week, but the inputs arrive in formats that cannot be compared fairly.</a:t>
            </a:r>
          </a:p>
        </p:txBody>
      </p:sp>
      <p:pic>
        <p:nvPicPr>
          <p:cNvPr id="19" name="Graphic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810500" y="2381250"/>
            <a:ext cx="3143250" cy="161925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1681D66-AB05-492A-A1C9-568C9CB17E26}"/>
              </a:ext>
            </a:extLst>
          </p:cNvPr>
          <p:cNvSpPr>
            <a:spLocks noGrp="1"/>
          </p:cNvSpPr>
          <p:nvPr/>
        </p:nvSpPr>
        <p:spPr>
          <a:xfrm>
            <a:off x="742950" y="2838450"/>
            <a:ext cx="114300" cy="1143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2AB4EB-5C79-495B-AB8B-5CA8F2133977}"/>
              </a:ext>
            </a:extLst>
          </p:cNvPr>
          <p:cNvSpPr>
            <a:spLocks noGrp="1"/>
          </p:cNvSpPr>
          <p:nvPr/>
        </p:nvSpPr>
        <p:spPr>
          <a:xfrm>
            <a:off x="1009650" y="2781300"/>
            <a:ext cx="5543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Requests arrive through public meetings, letters, WhatsApp, social posts, grievance portals, photos and calls.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0EF9B7-C37A-48A9-B89E-7B9A4B2208D8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114300" cy="1143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CF1F1E-AB65-45B9-B145-134490B81621}"/>
              </a:ext>
            </a:extLst>
          </p:cNvPr>
          <p:cNvSpPr>
            <a:spLocks noGrp="1"/>
          </p:cNvSpPr>
          <p:nvPr/>
        </p:nvSpPr>
        <p:spPr>
          <a:xfrm>
            <a:off x="1009650" y="3505200"/>
            <a:ext cx="5543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There is no objective way to consolidate repeat asks, spot recurring needs, and weigh them against real infrastructure gaps.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CB711A-9569-46CF-B53A-2D6CA3A89A69}"/>
              </a:ext>
            </a:extLst>
          </p:cNvPr>
          <p:cNvSpPr>
            <a:spLocks noGrp="1"/>
          </p:cNvSpPr>
          <p:nvPr/>
        </p:nvSpPr>
        <p:spPr>
          <a:xfrm>
            <a:off x="742950" y="4286250"/>
            <a:ext cx="114300" cy="1143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6DF996-34F2-4C3E-A48D-E0B13EECADAC}"/>
              </a:ext>
            </a:extLst>
          </p:cNvPr>
          <p:cNvSpPr>
            <a:spLocks noGrp="1"/>
          </p:cNvSpPr>
          <p:nvPr/>
        </p:nvSpPr>
        <p:spPr>
          <a:xfrm>
            <a:off x="1009650" y="4229100"/>
            <a:ext cx="5543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The result is an unfair choice between projects that sound urgent and projects that are measurably high priority.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FC68670-6D47-4EAD-90A5-19EFA00B1FD2}"/>
              </a:ext>
            </a:extLst>
          </p:cNvPr>
          <p:cNvSpPr>
            <a:spLocks noGrp="1"/>
          </p:cNvSpPr>
          <p:nvPr/>
        </p:nvSpPr>
        <p:spPr>
          <a:xfrm>
            <a:off x="7429500" y="3790950"/>
            <a:ext cx="3333750" cy="1733550"/>
          </a:xfrm>
          <a:prstGeom prst="roundRect">
            <a:avLst>
              <a:gd name="adj" fmla="val 6593"/>
            </a:avLst>
          </a:prstGeom>
          <a:solidFill>
            <a:srgbClr val="EFF6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2AB510-47D1-44EF-93E9-DB6BB324249F}"/>
              </a:ext>
            </a:extLst>
          </p:cNvPr>
          <p:cNvSpPr>
            <a:spLocks noGrp="1"/>
          </p:cNvSpPr>
          <p:nvPr/>
        </p:nvSpPr>
        <p:spPr>
          <a:xfrm>
            <a:off x="7772400" y="40576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The decision problem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DC5810-01C3-4447-9237-21534BC0F2E8}"/>
              </a:ext>
            </a:extLst>
          </p:cNvPr>
          <p:cNvSpPr>
            <a:spLocks noGrp="1"/>
          </p:cNvSpPr>
          <p:nvPr/>
        </p:nvSpPr>
        <p:spPr>
          <a:xfrm>
            <a:off x="7772400" y="455295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School, road, drainage, or health centre. Which moves first?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FF03B4-F8E4-4970-B69F-DDF528F1C9C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UrbanOS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25FDF5-537F-4232-AE5B-6125F1AFB783}"/>
              </a:ext>
            </a:extLst>
          </p:cNvPr>
          <p:cNvSpPr>
            <a:spLocks noGrp="1"/>
          </p:cNvSpPr>
          <p:nvPr/>
        </p:nvSpPr>
        <p:spPr>
          <a:xfrm>
            <a:off x="10858500" y="62865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3426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BDAD25-CB94-A91D-618D-62686EDED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4"/>
            <a:ext cx="12192000" cy="684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69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777EC7-01CE-4C07-A96F-21426CAA216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08282F-446F-48E3-85CC-F2FA7E5802B2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95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UrbanOS turns messy public input into a defensible priority list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A6FE0D-3D02-497F-955D-C9B8D15D8D23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It meets citizens where they already communicate, then gives the MP office a planning workflow.</a:t>
            </a:r>
          </a:p>
        </p:txBody>
      </p:sp>
      <p:pic>
        <p:nvPicPr>
          <p:cNvPr id="30" name="Graphic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10550" y="1009650"/>
            <a:ext cx="2571750" cy="16192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2B5306-AB5D-4A0C-AC42-02ADF6498379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847850" cy="133350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EBCF35-AA08-42D4-B446-D2FED23FBF9F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Citizen 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603C9C-9BDD-4A49-9B28-D98D969BAB4E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WhatsApp or SMS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5AE2D0-7F96-4BE4-BC5F-F7281C17F220}"/>
              </a:ext>
            </a:extLst>
          </p:cNvPr>
          <p:cNvSpPr>
            <a:spLocks noGrp="1"/>
          </p:cNvSpPr>
          <p:nvPr/>
        </p:nvSpPr>
        <p:spPr>
          <a:xfrm>
            <a:off x="2514600" y="36195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6EB1DB-DC3A-4CD2-875A-1C8B8F144259}"/>
              </a:ext>
            </a:extLst>
          </p:cNvPr>
          <p:cNvSpPr>
            <a:spLocks noGrp="1"/>
          </p:cNvSpPr>
          <p:nvPr/>
        </p:nvSpPr>
        <p:spPr>
          <a:xfrm>
            <a:off x="2867025" y="3105150"/>
            <a:ext cx="18478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905C81-EBD0-44E6-88F3-97DAF2981C2D}"/>
              </a:ext>
            </a:extLst>
          </p:cNvPr>
          <p:cNvSpPr>
            <a:spLocks noGrp="1"/>
          </p:cNvSpPr>
          <p:nvPr/>
        </p:nvSpPr>
        <p:spPr>
          <a:xfrm>
            <a:off x="3057525" y="3371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AI triage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92F2DC-4AB4-44E5-8FD3-39FBABBA3EF1}"/>
              </a:ext>
            </a:extLst>
          </p:cNvPr>
          <p:cNvSpPr>
            <a:spLocks noGrp="1"/>
          </p:cNvSpPr>
          <p:nvPr/>
        </p:nvSpPr>
        <p:spPr>
          <a:xfrm>
            <a:off x="3057525" y="37338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category, priority, zone, budget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FAA030-C0A9-4FFF-8D63-024424048509}"/>
              </a:ext>
            </a:extLst>
          </p:cNvPr>
          <p:cNvSpPr>
            <a:spLocks noGrp="1"/>
          </p:cNvSpPr>
          <p:nvPr/>
        </p:nvSpPr>
        <p:spPr>
          <a:xfrm>
            <a:off x="4752975" y="36195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F9EAC4-194C-4E23-94C0-A1D832CA457C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1847850" cy="133350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4F18CA-311B-44D0-B67F-FFC2031B5218}"/>
              </a:ext>
            </a:extLst>
          </p:cNvPr>
          <p:cNvSpPr>
            <a:spLocks noGrp="1"/>
          </p:cNvSpPr>
          <p:nvPr/>
        </p:nvSpPr>
        <p:spPr>
          <a:xfrm>
            <a:off x="5295900" y="3371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Cluster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7858C8-932F-4D27-954C-605BBD6DBA9A}"/>
              </a:ext>
            </a:extLst>
          </p:cNvPr>
          <p:cNvSpPr>
            <a:spLocks noGrp="1"/>
          </p:cNvSpPr>
          <p:nvPr/>
        </p:nvSpPr>
        <p:spPr>
          <a:xfrm>
            <a:off x="5295900" y="37338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same issue, same area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388D5A-A104-4EAF-8638-A55765D1C301}"/>
              </a:ext>
            </a:extLst>
          </p:cNvPr>
          <p:cNvSpPr>
            <a:spLocks noGrp="1"/>
          </p:cNvSpPr>
          <p:nvPr/>
        </p:nvSpPr>
        <p:spPr>
          <a:xfrm>
            <a:off x="6991350" y="36195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5B50990-C617-486B-A3EB-CCE89CB27957}"/>
              </a:ext>
            </a:extLst>
          </p:cNvPr>
          <p:cNvSpPr>
            <a:spLocks noGrp="1"/>
          </p:cNvSpPr>
          <p:nvPr/>
        </p:nvSpPr>
        <p:spPr>
          <a:xfrm>
            <a:off x="7343775" y="3105150"/>
            <a:ext cx="18478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FF3533-A732-4125-860F-66249346CCB1}"/>
              </a:ext>
            </a:extLst>
          </p:cNvPr>
          <p:cNvSpPr>
            <a:spLocks noGrp="1"/>
          </p:cNvSpPr>
          <p:nvPr/>
        </p:nvSpPr>
        <p:spPr>
          <a:xfrm>
            <a:off x="7534275" y="3371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Rank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B225D6-BEF8-482D-9F5D-6E539B66CA9B}"/>
              </a:ext>
            </a:extLst>
          </p:cNvPr>
          <p:cNvSpPr>
            <a:spLocks noGrp="1"/>
          </p:cNvSpPr>
          <p:nvPr/>
        </p:nvSpPr>
        <p:spPr>
          <a:xfrm>
            <a:off x="7534275" y="37338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demand x urgency x gap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24E55D-5CFA-4AD4-8192-8AA386CFC62A}"/>
              </a:ext>
            </a:extLst>
          </p:cNvPr>
          <p:cNvSpPr>
            <a:spLocks noGrp="1"/>
          </p:cNvSpPr>
          <p:nvPr/>
        </p:nvSpPr>
        <p:spPr>
          <a:xfrm>
            <a:off x="9229725" y="36195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10759D3-3F76-412D-8C79-B51618344599}"/>
              </a:ext>
            </a:extLst>
          </p:cNvPr>
          <p:cNvSpPr>
            <a:spLocks noGrp="1"/>
          </p:cNvSpPr>
          <p:nvPr/>
        </p:nvSpPr>
        <p:spPr>
          <a:xfrm>
            <a:off x="9582150" y="3105150"/>
            <a:ext cx="1847850" cy="133350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A10541-59D2-4BD8-8D26-85F1028941BB}"/>
              </a:ext>
            </a:extLst>
          </p:cNvPr>
          <p:cNvSpPr>
            <a:spLocks noGrp="1"/>
          </p:cNvSpPr>
          <p:nvPr/>
        </p:nvSpPr>
        <p:spPr>
          <a:xfrm>
            <a:off x="9772650" y="3371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Close loop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CB4D3B-58C6-4664-AE5A-A8C0CE391E2A}"/>
              </a:ext>
            </a:extLst>
          </p:cNvPr>
          <p:cNvSpPr>
            <a:spLocks noGrp="1"/>
          </p:cNvSpPr>
          <p:nvPr/>
        </p:nvSpPr>
        <p:spPr>
          <a:xfrm>
            <a:off x="9772650" y="37338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sanction and notify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942DC0-48C7-4BE8-B335-37AA5D9A31E2}"/>
              </a:ext>
            </a:extLst>
          </p:cNvPr>
          <p:cNvSpPr>
            <a:spLocks noGrp="1"/>
          </p:cNvSpPr>
          <p:nvPr/>
        </p:nvSpPr>
        <p:spPr>
          <a:xfrm>
            <a:off x="1485900" y="501015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The MP does not get another inbox. They get a ranked queue with evidence and a feedback loop.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714076-C5C3-4A84-A3B2-86103472E527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UrbanOS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C1B99A-2DB9-4282-BB9E-7F95699E7385}"/>
              </a:ext>
            </a:extLst>
          </p:cNvPr>
          <p:cNvSpPr>
            <a:spLocks noGrp="1"/>
          </p:cNvSpPr>
          <p:nvPr/>
        </p:nvSpPr>
        <p:spPr>
          <a:xfrm>
            <a:off x="10858500" y="62865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72194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ADFC64-E7FF-44F9-A082-800DF41C0F6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PRODUCT PROOF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6310E-FBF5-4F38-B0AC-8B38185C8BDD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95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The raw feed is now a live constituency command surface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FA8619-107C-4946-B49A-92E695B5CD82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The current build shows incoming proposals, map hotspots, filters and telemetry in one operational view.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t="8830" b="8830"/>
          <a:stretch>
            <a:fillRect/>
          </a:stretch>
        </p:blipFill>
        <p:spPr>
          <a:xfrm>
            <a:off x="666750" y="2609850"/>
            <a:ext cx="7239000" cy="3352800"/>
          </a:xfrm>
          <a:prstGeom prst="roundRect">
            <a:avLst>
              <a:gd name="adj" fmla="val 3409"/>
            </a:avLst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9CA9D5-9A37-45C4-AB27-4E3ED92FBFAD}"/>
              </a:ext>
            </a:extLst>
          </p:cNvPr>
          <p:cNvSpPr>
            <a:spLocks noGrp="1"/>
          </p:cNvSpPr>
          <p:nvPr/>
        </p:nvSpPr>
        <p:spPr>
          <a:xfrm>
            <a:off x="8248650" y="2705100"/>
            <a:ext cx="2781300" cy="32385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8B56CD-E9C1-476E-A590-029E03417C0C}"/>
              </a:ext>
            </a:extLst>
          </p:cNvPr>
          <p:cNvSpPr>
            <a:spLocks noGrp="1"/>
          </p:cNvSpPr>
          <p:nvPr/>
        </p:nvSpPr>
        <p:spPr>
          <a:xfrm>
            <a:off x="8572500" y="302895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500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919FDC-F577-40B4-B537-F37651E2481E}"/>
              </a:ext>
            </a:extLst>
          </p:cNvPr>
          <p:cNvSpPr>
            <a:spLocks noGrp="1"/>
          </p:cNvSpPr>
          <p:nvPr/>
        </p:nvSpPr>
        <p:spPr>
          <a:xfrm>
            <a:off x="8572500" y="344805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proposals loaded into the live feed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4F1443-C08F-4796-A97C-0EECBEE44437}"/>
              </a:ext>
            </a:extLst>
          </p:cNvPr>
          <p:cNvSpPr>
            <a:spLocks noGrp="1"/>
          </p:cNvSpPr>
          <p:nvPr/>
        </p:nvSpPr>
        <p:spPr>
          <a:xfrm>
            <a:off x="8572500" y="405765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map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28CA66-0EFA-412F-AC41-1D68C468B8E5}"/>
              </a:ext>
            </a:extLst>
          </p:cNvPr>
          <p:cNvSpPr>
            <a:spLocks noGrp="1"/>
          </p:cNvSpPr>
          <p:nvPr/>
        </p:nvSpPr>
        <p:spPr>
          <a:xfrm>
            <a:off x="8572500" y="447675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hotspots, pins and raw intake side by side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0246E-237F-4BA9-AB0B-D22FB764F832}"/>
              </a:ext>
            </a:extLst>
          </p:cNvPr>
          <p:cNvSpPr>
            <a:spLocks noGrp="1"/>
          </p:cNvSpPr>
          <p:nvPr/>
        </p:nvSpPr>
        <p:spPr>
          <a:xfrm>
            <a:off x="8572500" y="50673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EC4899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EC4899"/>
                </a:solidFill>
                <a:latin typeface="Inter"/>
                <a:ea typeface="Inter"/>
                <a:cs typeface="Inter"/>
              </a:rPr>
              <a:t>real-time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D6134-B390-4F52-8D76-8E951A446230}"/>
              </a:ext>
            </a:extLst>
          </p:cNvPr>
          <p:cNvSpPr>
            <a:spLocks noGrp="1"/>
          </p:cNvSpPr>
          <p:nvPr/>
        </p:nvSpPr>
        <p:spPr>
          <a:xfrm>
            <a:off x="8572500" y="54864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webhook incident stream for aides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6B5273-E2AB-486E-86E6-918E949D2DB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UrbanOS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8D960A-B428-46BC-B95A-1ED701EF3BCF}"/>
              </a:ext>
            </a:extLst>
          </p:cNvPr>
          <p:cNvSpPr>
            <a:spLocks noGrp="1"/>
          </p:cNvSpPr>
          <p:nvPr/>
        </p:nvSpPr>
        <p:spPr>
          <a:xfrm>
            <a:off x="10858500" y="62865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5206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28A05B-DCAB-4C69-81AD-AD011768F3B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AI EXECUTION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710CC-7964-428E-87C2-29B09B047191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95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The AI is doing civic work, not decoration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A55D85-AC61-49A3-BFED-9F6A06C75DA9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Gemini is used where judgment and structure are needed, while the backend keeps every output reviewable.</a:t>
            </a:r>
          </a:p>
        </p:txBody>
      </p:sp>
      <p:pic>
        <p:nvPicPr>
          <p:cNvPr id="19" name="Graphic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439150" y="914400"/>
            <a:ext cx="2381250" cy="14287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5D05CD-D0FA-4F2B-8773-063C7F06F05F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3333750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F40AA1-7928-4916-A408-A6E96A146195}"/>
              </a:ext>
            </a:extLst>
          </p:cNvPr>
          <p:cNvSpPr>
            <a:spLocks noGrp="1"/>
          </p:cNvSpPr>
          <p:nvPr/>
        </p:nvSpPr>
        <p:spPr>
          <a:xfrm>
            <a:off x="990600" y="29908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Structured triage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3BC7E3-1BAD-433D-BB82-34728C71AAA7}"/>
              </a:ext>
            </a:extLst>
          </p:cNvPr>
          <p:cNvSpPr>
            <a:spLocks noGrp="1"/>
          </p:cNvSpPr>
          <p:nvPr/>
        </p:nvSpPr>
        <p:spPr>
          <a:xfrm>
            <a:off x="990600" y="3505200"/>
            <a:ext cx="2571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Schema-constrained JSON for category, priority, feasibility, location, budget, language, zone and semantic tag.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DD757B-95A0-4FEC-A196-63206C5E0BC9}"/>
              </a:ext>
            </a:extLst>
          </p:cNvPr>
          <p:cNvSpPr>
            <a:spLocks noGrp="1"/>
          </p:cNvSpPr>
          <p:nvPr/>
        </p:nvSpPr>
        <p:spPr>
          <a:xfrm>
            <a:off x="4429125" y="2647950"/>
            <a:ext cx="3333750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15351B-2296-49EF-8B8B-635E8DF0ADAF}"/>
              </a:ext>
            </a:extLst>
          </p:cNvPr>
          <p:cNvSpPr>
            <a:spLocks noGrp="1"/>
          </p:cNvSpPr>
          <p:nvPr/>
        </p:nvSpPr>
        <p:spPr>
          <a:xfrm>
            <a:off x="4752975" y="29908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Multimodal evidence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418B7F-45D7-4895-A2B5-D811A4440A20}"/>
              </a:ext>
            </a:extLst>
          </p:cNvPr>
          <p:cNvSpPr>
            <a:spLocks noGrp="1"/>
          </p:cNvSpPr>
          <p:nvPr/>
        </p:nvSpPr>
        <p:spPr>
          <a:xfrm>
            <a:off x="4752975" y="3505200"/>
            <a:ext cx="2571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Photo and voice pathways turn unstructured field reports into visible evidence and searchable civic records.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5B6052-FD7D-4A20-BCAD-3F3E41659EC5}"/>
              </a:ext>
            </a:extLst>
          </p:cNvPr>
          <p:cNvSpPr>
            <a:spLocks noGrp="1"/>
          </p:cNvSpPr>
          <p:nvPr/>
        </p:nvSpPr>
        <p:spPr>
          <a:xfrm>
            <a:off x="8191500" y="2647950"/>
            <a:ext cx="3333750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723990-CA52-4E91-B67E-B0255EEAE527}"/>
              </a:ext>
            </a:extLst>
          </p:cNvPr>
          <p:cNvSpPr>
            <a:spLocks noGrp="1"/>
          </p:cNvSpPr>
          <p:nvPr/>
        </p:nvSpPr>
        <p:spPr>
          <a:xfrm>
            <a:off x="8515350" y="29908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Grounded agent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4F7442-94B3-4376-99BE-A1AA5F3E5841}"/>
              </a:ext>
            </a:extLst>
          </p:cNvPr>
          <p:cNvSpPr>
            <a:spLocks noGrp="1"/>
          </p:cNvSpPr>
          <p:nvPr/>
        </p:nvSpPr>
        <p:spPr>
          <a:xfrm>
            <a:off x="8515350" y="3505200"/>
            <a:ext cx="2571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The RAG assistant answers from connected proposals, sanctions, surveys and uploaded datasets, with graceful fallback.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EF923A-D99D-49F0-846B-FB8CFAF48DA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UrbanOS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5DC0E8-1A81-48C0-B2DB-B44C345313EF}"/>
              </a:ext>
            </a:extLst>
          </p:cNvPr>
          <p:cNvSpPr>
            <a:spLocks noGrp="1"/>
          </p:cNvSpPr>
          <p:nvPr/>
        </p:nvSpPr>
        <p:spPr>
          <a:xfrm>
            <a:off x="10858500" y="62865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5253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5216" y="411480"/>
            <a:ext cx="67542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Inter"/>
                <a:ea typeface="Arial" pitchFamily="34" charset="-122"/>
                <a:cs typeface="Arial" pitchFamily="34" charset="-120"/>
              </a:rPr>
              <a:t>TECHNICAL SNAPSHOT</a:t>
            </a:r>
            <a:endParaRPr lang="en-US" sz="1050" dirty="0">
              <a:latin typeface="Inter"/>
            </a:endParaRPr>
          </a:p>
        </p:txBody>
      </p:sp>
      <p:sp>
        <p:nvSpPr>
          <p:cNvPr id="4" name="Text 1"/>
          <p:cNvSpPr/>
          <p:nvPr/>
        </p:nvSpPr>
        <p:spPr>
          <a:xfrm>
            <a:off x="585216" y="5943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stack, end to end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002975" y="384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UrbanOS · Afterburners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2724912" cy="4617720"/>
          </a:xfrm>
          <a:prstGeom prst="roundRect">
            <a:avLst>
              <a:gd name="adj" fmla="val 3020"/>
            </a:avLst>
          </a:prstGeom>
          <a:solidFill>
            <a:srgbClr val="F3F4F6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892808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0253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18928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2560320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26517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77240" y="298094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admin UI logic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40080" y="3493008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" y="358444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77240" y="39136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 styling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40080" y="4425696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7240" y="451713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77240" y="4846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visualizations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40080" y="5358384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77240" y="544982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Leaflet.js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77240" y="577900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grievance map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346704" y="1691640"/>
            <a:ext cx="2724912" cy="4617720"/>
          </a:xfrm>
          <a:prstGeom prst="roundRect">
            <a:avLst>
              <a:gd name="adj" fmla="val 3020"/>
            </a:avLst>
          </a:prstGeom>
          <a:solidFill>
            <a:srgbClr val="F3F4F6"/>
          </a:solidFill>
          <a:ln/>
        </p:spPr>
      </p:sp>
      <p:sp>
        <p:nvSpPr>
          <p:cNvPr id="25" name="Shape 21"/>
          <p:cNvSpPr/>
          <p:nvPr/>
        </p:nvSpPr>
        <p:spPr>
          <a:xfrm>
            <a:off x="3547872" y="1892808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002536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123944" y="18928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529584" y="2560320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666744" y="26517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3666744" y="298094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runtime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3529584" y="3493008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666744" y="358444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3666744" y="39136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API framework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3529584" y="4425696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666744" y="451713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Fns Gen 2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3666744" y="4846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compute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3529584" y="5358384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3666744" y="544982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3666744" y="577900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6236208" y="1691640"/>
            <a:ext cx="2724912" cy="4617720"/>
          </a:xfrm>
          <a:prstGeom prst="roundRect">
            <a:avLst>
              <a:gd name="adj" fmla="val 3020"/>
            </a:avLst>
          </a:prstGeom>
          <a:solidFill>
            <a:srgbClr val="F3F4F6"/>
          </a:solidFill>
          <a:ln/>
        </p:spPr>
      </p:sp>
      <p:sp>
        <p:nvSpPr>
          <p:cNvPr id="41" name="Shape 36"/>
          <p:cNvSpPr/>
          <p:nvPr/>
        </p:nvSpPr>
        <p:spPr>
          <a:xfrm>
            <a:off x="6437376" y="1892808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2002536"/>
            <a:ext cx="237744" cy="23774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013448" y="18928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450" dirty="0"/>
          </a:p>
        </p:txBody>
      </p:sp>
      <p:sp>
        <p:nvSpPr>
          <p:cNvPr id="44" name="Shape 38"/>
          <p:cNvSpPr/>
          <p:nvPr/>
        </p:nvSpPr>
        <p:spPr>
          <a:xfrm>
            <a:off x="6419088" y="2560320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556248" y="26517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6556248" y="298094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triage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6419088" y="3493008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556248" y="358444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 Speech-to-Text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6556248" y="39136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transcription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6419088" y="4425696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556248" y="451713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Agent</a:t>
            </a:r>
            <a:endParaRPr lang="en-US" sz="1200" dirty="0"/>
          </a:p>
        </p:txBody>
      </p:sp>
      <p:sp>
        <p:nvSpPr>
          <p:cNvPr id="52" name="Text 46"/>
          <p:cNvSpPr/>
          <p:nvPr/>
        </p:nvSpPr>
        <p:spPr>
          <a:xfrm>
            <a:off x="6556248" y="4846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insights</a:t>
            </a:r>
            <a:endParaRPr lang="en-US" sz="950" dirty="0"/>
          </a:p>
        </p:txBody>
      </p:sp>
      <p:sp>
        <p:nvSpPr>
          <p:cNvPr id="53" name="Shape 47"/>
          <p:cNvSpPr/>
          <p:nvPr/>
        </p:nvSpPr>
        <p:spPr>
          <a:xfrm>
            <a:off x="6419088" y="5358384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6556248" y="544982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Tagging</a:t>
            </a:r>
            <a:endParaRPr lang="en-US" sz="1200" dirty="0"/>
          </a:p>
        </p:txBody>
      </p:sp>
      <p:sp>
        <p:nvSpPr>
          <p:cNvPr id="55" name="Text 49"/>
          <p:cNvSpPr/>
          <p:nvPr/>
        </p:nvSpPr>
        <p:spPr>
          <a:xfrm>
            <a:off x="6556248" y="577900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 clustering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9125712" y="1691640"/>
            <a:ext cx="2724912" cy="4617720"/>
          </a:xfrm>
          <a:prstGeom prst="roundRect">
            <a:avLst>
              <a:gd name="adj" fmla="val 3020"/>
            </a:avLst>
          </a:prstGeom>
          <a:solidFill>
            <a:srgbClr val="F3F4F6"/>
          </a:solidFill>
          <a:ln/>
        </p:spPr>
      </p:sp>
      <p:sp>
        <p:nvSpPr>
          <p:cNvPr id="57" name="Shape 51"/>
          <p:cNvSpPr/>
          <p:nvPr/>
        </p:nvSpPr>
        <p:spPr>
          <a:xfrm>
            <a:off x="9326880" y="1892808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2002536"/>
            <a:ext cx="237744" cy="237744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9902952" y="18928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Integrations</a:t>
            </a:r>
            <a:endParaRPr lang="en-US" sz="1450" dirty="0"/>
          </a:p>
        </p:txBody>
      </p:sp>
      <p:sp>
        <p:nvSpPr>
          <p:cNvPr id="60" name="Shape 53"/>
          <p:cNvSpPr/>
          <p:nvPr/>
        </p:nvSpPr>
        <p:spPr>
          <a:xfrm>
            <a:off x="9308592" y="2560320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9445752" y="26517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</a:t>
            </a:r>
            <a:endParaRPr lang="en-US" sz="1200" dirty="0"/>
          </a:p>
        </p:txBody>
      </p:sp>
      <p:sp>
        <p:nvSpPr>
          <p:cNvPr id="62" name="Text 55"/>
          <p:cNvSpPr/>
          <p:nvPr/>
        </p:nvSpPr>
        <p:spPr>
          <a:xfrm>
            <a:off x="9445752" y="298094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NoSQL store</a:t>
            </a:r>
            <a:endParaRPr lang="en-US" sz="950" dirty="0"/>
          </a:p>
        </p:txBody>
      </p:sp>
      <p:sp>
        <p:nvSpPr>
          <p:cNvPr id="63" name="Shape 56"/>
          <p:cNvSpPr/>
          <p:nvPr/>
        </p:nvSpPr>
        <p:spPr>
          <a:xfrm>
            <a:off x="9308592" y="3493008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9445752" y="358444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Hosting</a:t>
            </a:r>
            <a:endParaRPr lang="en-US" sz="1200" dirty="0"/>
          </a:p>
        </p:txBody>
      </p:sp>
      <p:sp>
        <p:nvSpPr>
          <p:cNvPr id="65" name="Text 58"/>
          <p:cNvSpPr/>
          <p:nvPr/>
        </p:nvSpPr>
        <p:spPr>
          <a:xfrm>
            <a:off x="9445752" y="39136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delivery</a:t>
            </a:r>
            <a:endParaRPr lang="en-US" sz="950" dirty="0"/>
          </a:p>
        </p:txBody>
      </p:sp>
      <p:sp>
        <p:nvSpPr>
          <p:cNvPr id="66" name="Shape 59"/>
          <p:cNvSpPr/>
          <p:nvPr/>
        </p:nvSpPr>
        <p:spPr>
          <a:xfrm>
            <a:off x="9308592" y="4425696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9445752" y="451713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</a:t>
            </a:r>
            <a:endParaRPr lang="en-US" sz="1200" dirty="0"/>
          </a:p>
        </p:txBody>
      </p:sp>
      <p:sp>
        <p:nvSpPr>
          <p:cNvPr id="68" name="Text 61"/>
          <p:cNvSpPr/>
          <p:nvPr/>
        </p:nvSpPr>
        <p:spPr>
          <a:xfrm>
            <a:off x="9445752" y="4846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 API</a:t>
            </a:r>
            <a:endParaRPr lang="en-US" sz="950" dirty="0"/>
          </a:p>
        </p:txBody>
      </p:sp>
      <p:sp>
        <p:nvSpPr>
          <p:cNvPr id="69" name="Shape 62"/>
          <p:cNvSpPr/>
          <p:nvPr/>
        </p:nvSpPr>
        <p:spPr>
          <a:xfrm>
            <a:off x="9308592" y="5358384"/>
            <a:ext cx="23591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3"/>
          <p:cNvSpPr/>
          <p:nvPr/>
        </p:nvSpPr>
        <p:spPr>
          <a:xfrm>
            <a:off x="9445752" y="544982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API</a:t>
            </a:r>
            <a:endParaRPr lang="en-US" sz="1200" dirty="0"/>
          </a:p>
        </p:txBody>
      </p:sp>
      <p:sp>
        <p:nvSpPr>
          <p:cNvPr id="71" name="Text 64"/>
          <p:cNvSpPr/>
          <p:nvPr/>
        </p:nvSpPr>
        <p:spPr>
          <a:xfrm>
            <a:off x="9445752" y="577900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channel</a:t>
            </a:r>
            <a:endParaRPr lang="en-US" sz="950" dirty="0"/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555480" y="634746"/>
            <a:ext cx="1524000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A0FE03-51FF-4024-AA3F-D2525031B5C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050" b="1" dirty="0">
                <a:solidFill>
                  <a:srgbClr val="2563EB"/>
                </a:solidFill>
                <a:latin typeface="Inter"/>
                <a:ea typeface="Inter"/>
                <a:cs typeface="Inter"/>
              </a:rPr>
              <a:t>PRIORITIZATION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F93558-420D-4546-A0B4-68886055235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95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Ranking combines public demand with measurable need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036D29-CE3C-4FAA-9991-B9400F0FA2D7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UrbanOS clusters repeated requests, scores urgency, then applies a project-specific infrastructure gap signal.</a:t>
            </a:r>
          </a:p>
        </p:txBody>
      </p:sp>
      <p:pic>
        <p:nvPicPr>
          <p:cNvPr id="14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66800" y="4743450"/>
            <a:ext cx="2628900" cy="11239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D9BE33-5479-4D27-A10A-46CFBCC53693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4191000" cy="200025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696126-DE1E-4D25-B69C-1CAB5EDA02E2}"/>
              </a:ext>
            </a:extLst>
          </p:cNvPr>
          <p:cNvSpPr>
            <a:spLocks noGrp="1"/>
          </p:cNvSpPr>
          <p:nvPr/>
        </p:nvSpPr>
        <p:spPr>
          <a:xfrm>
            <a:off x="1085850" y="31813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Impact Score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B74FE0-FCB5-4E0D-8D47-BA9BAB0B29F4}"/>
              </a:ext>
            </a:extLst>
          </p:cNvPr>
          <p:cNvSpPr>
            <a:spLocks noGrp="1"/>
          </p:cNvSpPr>
          <p:nvPr/>
        </p:nvSpPr>
        <p:spPr>
          <a:xfrm>
            <a:off x="1085850" y="371475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demand count x priority score x (1 + category gap / 10)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rcRect t="1913" b="1913"/>
          <a:stretch>
            <a:fillRect/>
          </a:stretch>
        </p:blipFill>
        <p:spPr>
          <a:xfrm>
            <a:off x="5429250" y="2609850"/>
            <a:ext cx="5810250" cy="3143250"/>
          </a:xfrm>
          <a:prstGeom prst="roundRect">
            <a:avLst>
              <a:gd name="adj" fmla="val 3636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271F8B-96FC-4303-A05B-67B470181810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UrbanOS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EF8ED0-402E-480D-B5D2-D29D9307A087}"/>
              </a:ext>
            </a:extLst>
          </p:cNvPr>
          <p:cNvSpPr>
            <a:spLocks noGrp="1"/>
          </p:cNvSpPr>
          <p:nvPr/>
        </p:nvSpPr>
        <p:spPr>
          <a:xfrm>
            <a:off x="10858500" y="62865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2203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E01833-7F96-4DF7-AD05-F23949CFCCC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DEPLOYMENT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00F136-9FBA-4F4A-A203-3B8CB513BBD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95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The prototype can run in an MP office without a new citizen app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AD0C45-E3A3-454C-9BB6-A81066B04A91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It uses familiar channels for citizens and simple hosted infrastructure for the office.</a:t>
            </a:r>
          </a:p>
        </p:txBody>
      </p:sp>
      <p:pic>
        <p:nvPicPr>
          <p:cNvPr id="22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277100" y="2628900"/>
            <a:ext cx="2476500" cy="12763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3FBE5F-0196-4311-8805-F635A07068A9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75" b="1" dirty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Citizen channels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B2600-542C-4F66-93BE-39B6E6D57805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425" b="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WhatsApp, SMS, voice notes, photos and location pins.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ADF77C-3BBE-42C3-BF1C-355B12052550}"/>
              </a:ext>
            </a:extLst>
          </p:cNvPr>
          <p:cNvSpPr>
            <a:spLocks noGrp="1"/>
          </p:cNvSpPr>
          <p:nvPr/>
        </p:nvSpPr>
        <p:spPr>
          <a:xfrm>
            <a:off x="876300" y="3771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Backend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1CAF41-F9BC-45AA-8B3E-19DF27C15BE3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FastAPI, Firestore, Firebase Hosting and Cloud Functions.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E83981-8E0F-4133-A43C-4F271D7D169B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AI 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17A57F-44D8-42BD-9F08-FE326740D8FC}"/>
              </a:ext>
            </a:extLst>
          </p:cNvPr>
          <p:cNvSpPr>
            <a:spLocks noGrp="1"/>
          </p:cNvSpPr>
          <p:nvPr/>
        </p:nvSpPr>
        <p:spPr>
          <a:xfrm>
            <a:off x="876300" y="5124450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Gemini triage, semantic clustering and grounded insights.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AFBEB7-E4CB-4526-8E9F-153AE3D3A83C}"/>
              </a:ext>
            </a:extLst>
          </p:cNvPr>
          <p:cNvSpPr>
            <a:spLocks noGrp="1"/>
          </p:cNvSpPr>
          <p:nvPr/>
        </p:nvSpPr>
        <p:spPr>
          <a:xfrm>
            <a:off x="6896100" y="4038600"/>
            <a:ext cx="3619500" cy="169545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B7F48A-7E90-4C71-B852-00365D82DB4F}"/>
              </a:ext>
            </a:extLst>
          </p:cNvPr>
          <p:cNvSpPr>
            <a:spLocks noGrp="1"/>
          </p:cNvSpPr>
          <p:nvPr/>
        </p:nvSpPr>
        <p:spPr>
          <a:xfrm>
            <a:off x="7277100" y="43243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Inclusion by design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E5230C-3055-44CF-954D-83CE1D73E73D}"/>
              </a:ext>
            </a:extLst>
          </p:cNvPr>
          <p:cNvSpPr>
            <a:spLocks noGrp="1"/>
          </p:cNvSpPr>
          <p:nvPr/>
        </p:nvSpPr>
        <p:spPr>
          <a:xfrm>
            <a:off x="7277100" y="4857750"/>
            <a:ext cx="1352550" cy="323850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multilingual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EA54D0-CC6E-4B4C-881E-C1CE389A3714}"/>
              </a:ext>
            </a:extLst>
          </p:cNvPr>
          <p:cNvSpPr>
            <a:spLocks noGrp="1"/>
          </p:cNvSpPr>
          <p:nvPr/>
        </p:nvSpPr>
        <p:spPr>
          <a:xfrm>
            <a:off x="8782050" y="4857750"/>
            <a:ext cx="1466850" cy="323850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low bandwidth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9438C2-1DB5-4D12-8753-A610DC390184}"/>
              </a:ext>
            </a:extLst>
          </p:cNvPr>
          <p:cNvSpPr>
            <a:spLocks noGrp="1"/>
          </p:cNvSpPr>
          <p:nvPr/>
        </p:nvSpPr>
        <p:spPr>
          <a:xfrm>
            <a:off x="7277100" y="5314950"/>
            <a:ext cx="1181100" cy="323850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EC489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EC4899"/>
                </a:solidFill>
                <a:latin typeface="Inter"/>
                <a:ea typeface="Inter"/>
                <a:cs typeface="Inter"/>
              </a:rPr>
              <a:t>voice first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40943D-84A3-4377-99C8-2C78B3609E8B}"/>
              </a:ext>
            </a:extLst>
          </p:cNvPr>
          <p:cNvSpPr>
            <a:spLocks noGrp="1"/>
          </p:cNvSpPr>
          <p:nvPr/>
        </p:nvSpPr>
        <p:spPr>
          <a:xfrm>
            <a:off x="8610600" y="5314950"/>
            <a:ext cx="1428750" cy="323850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SMS fallback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C1534D-A174-4F93-A771-4B40BBF2408E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UrbanOS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938BA5-5FC4-4E09-B8E1-F7DA2CC2605C}"/>
              </a:ext>
            </a:extLst>
          </p:cNvPr>
          <p:cNvSpPr>
            <a:spLocks noGrp="1"/>
          </p:cNvSpPr>
          <p:nvPr/>
        </p:nvSpPr>
        <p:spPr>
          <a:xfrm>
            <a:off x="10858500" y="62865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4172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161999-70C4-44D3-B8A5-07DE3B75168A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495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Testing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B4B87A-F418-47F9-9EC5-0246831632B5}"/>
              </a:ext>
            </a:extLst>
          </p:cNvPr>
          <p:cNvSpPr>
            <a:spLocks noGrp="1"/>
          </p:cNvSpPr>
          <p:nvPr/>
        </p:nvSpPr>
        <p:spPr>
          <a:xfrm>
            <a:off x="707923" y="1656121"/>
            <a:ext cx="1066800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9EF4A1-1494-47EE-80AD-4CF7BD81ABD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UrbanOS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94D18-5CEB-4E96-8331-18118328341B}"/>
              </a:ext>
            </a:extLst>
          </p:cNvPr>
          <p:cNvSpPr>
            <a:spLocks noGrp="1"/>
          </p:cNvSpPr>
          <p:nvPr/>
        </p:nvSpPr>
        <p:spPr>
          <a:xfrm>
            <a:off x="10858500" y="62865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6" name="Rectangle 5">
            <a:hlinkClick r:id="rId3"/>
            <a:extLst>
              <a:ext uri="{FF2B5EF4-FFF2-40B4-BE49-F238E27FC236}">
                <a16:creationId xmlns:a16="http://schemas.microsoft.com/office/drawing/2014/main" id="{B2A9DA3E-C553-E5E9-0F99-E87D02547831}"/>
              </a:ext>
            </a:extLst>
          </p:cNvPr>
          <p:cNvSpPr>
            <a:spLocks noGrp="1"/>
          </p:cNvSpPr>
          <p:nvPr/>
        </p:nvSpPr>
        <p:spPr>
          <a:xfrm>
            <a:off x="902723" y="2190749"/>
            <a:ext cx="3597377" cy="3945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lang="en-IN" sz="3600" b="1" dirty="0" err="1">
                <a:solidFill>
                  <a:srgbClr val="0F172A"/>
                </a:solidFill>
                <a:latin typeface="Inter"/>
                <a:ea typeface="Inter"/>
                <a:cs typeface="Inter"/>
              </a:rPr>
              <a:t>urbanOS.web.app</a:t>
            </a:r>
            <a:endParaRPr sz="3600" b="1" dirty="0">
              <a:solidFill>
                <a:srgbClr val="0F172A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8A1D70-EAEF-5CF8-4C61-2AF960DB1676}"/>
              </a:ext>
            </a:extLst>
          </p:cNvPr>
          <p:cNvSpPr>
            <a:spLocks noGrp="1"/>
          </p:cNvSpPr>
          <p:nvPr/>
        </p:nvSpPr>
        <p:spPr>
          <a:xfrm>
            <a:off x="902723" y="1790700"/>
            <a:ext cx="2263264" cy="394518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lang="en-IN" sz="2400" b="1" dirty="0">
                <a:solidFill>
                  <a:srgbClr val="2563EB"/>
                </a:solidFill>
                <a:latin typeface="Inter"/>
                <a:ea typeface="Inter"/>
                <a:cs typeface="Inter"/>
              </a:rPr>
              <a:t>DEPLOYED LINK</a:t>
            </a:r>
            <a:endParaRPr sz="2400" b="1" dirty="0">
              <a:solidFill>
                <a:srgbClr val="2563EB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6CC9C6-4B0E-6663-2646-ED6CD9750D14}"/>
              </a:ext>
            </a:extLst>
          </p:cNvPr>
          <p:cNvSpPr>
            <a:spLocks noGrp="1"/>
          </p:cNvSpPr>
          <p:nvPr/>
        </p:nvSpPr>
        <p:spPr>
          <a:xfrm>
            <a:off x="7524750" y="2470967"/>
            <a:ext cx="3333750" cy="292417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DE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F62B5D-0731-006C-A075-D329CA3B9CB0}"/>
              </a:ext>
            </a:extLst>
          </p:cNvPr>
          <p:cNvSpPr txBox="1"/>
          <p:nvPr/>
        </p:nvSpPr>
        <p:spPr>
          <a:xfrm>
            <a:off x="7865806" y="2772697"/>
            <a:ext cx="27923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1.Send Join molecular-join            To      +14155238886</a:t>
            </a:r>
          </a:p>
          <a:p>
            <a:endParaRPr lang="en-IN" dirty="0"/>
          </a:p>
          <a:p>
            <a:r>
              <a:rPr lang="en-IN" dirty="0"/>
              <a:t>2.Send Hey and follow along</a:t>
            </a:r>
          </a:p>
          <a:p>
            <a:endParaRPr lang="en-IN" dirty="0"/>
          </a:p>
          <a:p>
            <a:r>
              <a:rPr lang="en-IN" dirty="0"/>
              <a:t>3.See Messages Go in </a:t>
            </a:r>
            <a:br>
              <a:rPr lang="en-IN" dirty="0"/>
            </a:br>
            <a:r>
              <a:rPr lang="en-IN" b="1" dirty="0"/>
              <a:t>Live Incident Feed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39B9AA-DE12-0BB1-65ED-E5B292122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545" y="3089330"/>
            <a:ext cx="283531" cy="2835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0E6DF8-1444-F8F8-B868-77F072D9219E}"/>
              </a:ext>
            </a:extLst>
          </p:cNvPr>
          <p:cNvSpPr txBox="1"/>
          <p:nvPr/>
        </p:nvSpPr>
        <p:spPr>
          <a:xfrm>
            <a:off x="7524750" y="2101635"/>
            <a:ext cx="333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STEPS TO TEST WHATSAPP AGENT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D480D9C-3A6F-E932-42F0-996A83D8C474}"/>
              </a:ext>
            </a:extLst>
          </p:cNvPr>
          <p:cNvSpPr/>
          <p:nvPr/>
        </p:nvSpPr>
        <p:spPr>
          <a:xfrm rot="9956830">
            <a:off x="3558575" y="3891427"/>
            <a:ext cx="953729" cy="5687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38D3FE-1F3C-2EEF-2B27-E861E46BB7A8}"/>
              </a:ext>
            </a:extLst>
          </p:cNvPr>
          <p:cNvSpPr txBox="1"/>
          <p:nvPr/>
        </p:nvSpPr>
        <p:spPr>
          <a:xfrm>
            <a:off x="4567082" y="3634388"/>
            <a:ext cx="1425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LIVE DEMO VIDEO</a:t>
            </a:r>
            <a:br>
              <a:rPr lang="en-IN" b="1" dirty="0">
                <a:latin typeface="Arial Black" panose="020B0A04020102020204" pitchFamily="34" charset="0"/>
              </a:rPr>
            </a:br>
            <a:r>
              <a:rPr lang="en-IN" b="1" dirty="0">
                <a:latin typeface="Arial Black" panose="020B0A04020102020204" pitchFamily="34" charset="0"/>
              </a:rPr>
              <a:t>(2 MIN)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327381-8C39-0742-6960-CDA32F9D2B9E}"/>
              </a:ext>
            </a:extLst>
          </p:cNvPr>
          <p:cNvSpPr txBox="1"/>
          <p:nvPr/>
        </p:nvSpPr>
        <p:spPr>
          <a:xfrm>
            <a:off x="3503797" y="5116508"/>
            <a:ext cx="3581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linkClick r:id="rId5"/>
              </a:rPr>
              <a:t>https://youtu.be/3PQMmyQZnLo</a:t>
            </a:r>
            <a:endParaRPr lang="en-IN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69D1632-0339-80AD-A729-71A27FE822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61" y="3019435"/>
            <a:ext cx="2732436" cy="273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30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648</Words>
  <Application>Microsoft Office PowerPoint</Application>
  <DocSecurity>0</DocSecurity>
  <PresentationFormat>Widescreen</PresentationFormat>
  <Paragraphs>138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Inter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Shikhar Shahi</cp:lastModifiedBy>
  <cp:revision>14</cp:revision>
  <dcterms:created xsi:type="dcterms:W3CDTF">2026-07-05T12:51:55Z</dcterms:created>
  <dcterms:modified xsi:type="dcterms:W3CDTF">2026-07-07T03:22:19Z</dcterms:modified>
</cp:coreProperties>
</file>